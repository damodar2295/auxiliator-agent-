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9966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From Signals to Governed, Evidence-Backed Business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7772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C8DFF3"/>
                </a:solidFill>
                <a:latin typeface="Aptos"/>
              </a:rPr>
              <a:t>Architecture evaluation • design hypothesis • POC validation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8872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2D72"/>
                </a:solidFill>
                <a:latin typeface="Aptos"/>
              </a:rPr>
              <a:t>AMERICAN
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34924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Prepared for architecture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696712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C8DFF3"/>
                </a:solidFill>
                <a:latin typeface="Aptos"/>
              </a:rPr>
              <a:t>Focus: Layer 4 — Intelligence, Reasoning &amp; Decisioning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1. Start with the problem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Avoid rebuilding Layers 1–3; focus on converting trusted upstream context into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20240" cy="7315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Raw Enterprise
Interactions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194560"/>
            <a:ext cx="59436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828800"/>
            <a:ext cx="2011680" cy="7315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Semantic
Transformation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57800" y="2194560"/>
            <a:ext cx="59436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52160" y="1691640"/>
            <a:ext cx="2057400" cy="100584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Signals + Facts
+ 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2194560"/>
            <a:ext cx="59436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03920" y="1554480"/>
            <a:ext cx="2880360" cy="12801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LAYER 4
Trusted Business
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6FBA"/>
                </a:solidFill>
                <a:latin typeface="Aptos"/>
              </a:rPr>
              <a:t>Core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515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53D"/>
                </a:solidFill>
                <a:latin typeface="Aptos"/>
              </a:rPr>
              <a:t>Once signals already exist, how do we reliably turn them into reusable, governed and evidence-backed business intelligence?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83480"/>
            <a:ext cx="3246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Do not duplicate ingestion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983480"/>
            <a:ext cx="3246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Do not assume every task needs an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983480"/>
            <a:ext cx="3246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Design for enterprise reuse &amp;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2. What the KT already establishes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A strong foundation around Signals, Skills, Context, Reasoning and Policy.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KT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92024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55677A"/>
                </a:solidFill>
                <a:latin typeface="Aptos"/>
              </a:rPr>
              <a:t>Pre-derived semantic
observations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176272"/>
            <a:ext cx="320040" cy="0"/>
          </a:xfrm>
          <a:prstGeom prst="line">
            <a:avLst/>
          </a:prstGeom>
          <a:ln w="1905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3512" y="1828800"/>
            <a:ext cx="192024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65176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55677A"/>
                </a:solidFill>
                <a:latin typeface="Aptos"/>
              </a:rPr>
              <a:t>Business intelligence
use cases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3752" y="2176272"/>
            <a:ext cx="320040" cy="0"/>
          </a:xfrm>
          <a:prstGeom prst="line">
            <a:avLst/>
          </a:prstGeom>
          <a:ln w="1905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21224" y="1828800"/>
            <a:ext cx="1920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5176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55677A"/>
                </a:solidFill>
                <a:latin typeface="Aptos"/>
              </a:rPr>
              <a:t>Relevant data &amp;
evidence assembly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1464" y="2176272"/>
            <a:ext cx="320040" cy="0"/>
          </a:xfrm>
          <a:prstGeom prst="line">
            <a:avLst/>
          </a:prstGeom>
          <a:ln w="1905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88936" y="1828800"/>
            <a:ext cx="1920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265176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55677A"/>
                </a:solidFill>
                <a:latin typeface="Aptos"/>
              </a:rPr>
              <a:t>Decision synthesis
with model support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09176" y="2176272"/>
            <a:ext cx="320040" cy="0"/>
          </a:xfrm>
          <a:prstGeom prst="line">
            <a:avLst/>
          </a:prstGeom>
          <a:ln w="1905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56648" y="1828800"/>
            <a:ext cx="1920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265176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55677A"/>
                </a:solidFill>
                <a:latin typeface="Aptos"/>
              </a:rPr>
              <a:t>Thresholds &amp;
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5212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02D72"/>
                </a:solidFill>
                <a:latin typeface="Aptos"/>
              </a:rPr>
              <a:t>My intent is not to replace this foundation.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10515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14253D"/>
                </a:solidFill>
                <a:latin typeface="Aptos"/>
              </a:rPr>
              <a:t>The next step is to validate what must become explicit for production-scale reuse, reliability and enterprise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94960"/>
            <a:ext cx="10607040" cy="594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2D72"/>
                </a:solidFill>
                <a:latin typeface="Aptos"/>
              </a:rPr>
              <a:t>KT foundation  →  architecture questions  →  design principles  →  POC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3. Thirteen areas to validate — grouped into four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These are architecture questions, not necessarily defects; some may already be addressed by enterprise 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60320" cy="54864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Execution &amp;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1  Multi-channel invocation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44368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2  Entity/scope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57015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5  Customer + macro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69663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11  Batch/event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00200"/>
            <a:ext cx="2560320" cy="54864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Intelligence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3  Skill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944368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4  Reasoning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557015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6  Context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169663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7  Evidence sufficiency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782312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8 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00200"/>
            <a:ext cx="2560320" cy="54864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31720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9  Cross-cutting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944368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12  Skill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557015"/>
            <a:ext cx="2560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13  Observability &amp; replay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600200"/>
            <a:ext cx="2240280" cy="54864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Enterprise Reuse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331720"/>
            <a:ext cx="2240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10  Reuse enterprise AI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944368"/>
            <a:ext cx="2240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Avoid parallel IAM / model / MCP / tracing stacks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06FBA"/>
                </a:solidFill>
                <a:latin typeface="Aptos"/>
              </a:rPr>
              <a:t>Key shift in thinking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532120"/>
            <a:ext cx="9235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002D72"/>
                </a:solidFill>
                <a:latin typeface="Aptos"/>
              </a:rPr>
              <a:t>Is Layer 4 only a governed LLM reasoning layer — or a broader governed Intelligence Runtime?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4. Architectural thought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Problem first. Technology later.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REASONING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087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904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Define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56231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Signals → trusted intelligence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5087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4904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Identify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856231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Business use cases as Skills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5087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904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Choose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56231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One governed Intelligence Agent</a:t>
            </a:r>
          </a:p>
        </p:txBody>
      </p:sp>
      <p:sp>
        <p:nvSpPr>
          <p:cNvPr id="18" name="Oval 17"/>
          <p:cNvSpPr/>
          <p:nvPr/>
        </p:nvSpPr>
        <p:spPr>
          <a:xfrm>
            <a:off x="9052559" y="15087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5087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14904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Select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19" y="1856231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Rules | Analytics | ML | LLM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5661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478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Establish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13632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Evidence + confidence + policy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0" y="35661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5661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5478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Decouple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913632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Evaluate MCP as standard boundary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5661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5661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5478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Fit 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913632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Reuse IAM, gateways &amp; observability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9052559" y="3566160"/>
            <a:ext cx="475488" cy="475488"/>
          </a:xfrm>
          <a:prstGeom prst="ellipse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356616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35478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2D72"/>
                </a:solidFill>
                <a:latin typeface="Aptos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3913632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POC with mocked upstream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2356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06FBA"/>
                </a:solidFill>
                <a:latin typeface="Aptos"/>
              </a:rPr>
              <a:t>Design principle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65960" y="5468112"/>
            <a:ext cx="9144000" cy="64008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2D72"/>
                </a:solidFill>
                <a:latin typeface="Aptos"/>
              </a:rPr>
              <a:t>Centralize orchestration &amp; governance; decentralize business intelligence into Skills.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5. Architecture hypothesis — Governed Intelligence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One orchestrator. Reusable Skills. Multiple reasoning strategies. Explicit trust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HYPOTHESIS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417320" cy="7315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User / API /
Batch / Event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331720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691640"/>
            <a:ext cx="1828800" cy="12801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INTELLIGENCE
AGENT
Orchestrator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2331720"/>
            <a:ext cx="54864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92040" y="1691640"/>
            <a:ext cx="1600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Skill
Discovery &amp;
Selection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331720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95160" y="1691640"/>
            <a:ext cx="1600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Context +
Evidence
Assembly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2331720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98280" y="1691640"/>
            <a:ext cx="2286000" cy="12801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Reasoning Strategy
Rules | Analytics | ML
LLM | Agentic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79476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Evidence
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4233672"/>
            <a:ext cx="320040" cy="0"/>
          </a:xfrm>
          <a:prstGeom prst="line">
            <a:avLst/>
          </a:prstGeom>
          <a:ln w="1778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17720" y="379476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Confidence
Engine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79" y="4233672"/>
            <a:ext cx="320041" cy="0"/>
          </a:xfrm>
          <a:prstGeom prst="line">
            <a:avLst/>
          </a:prstGeom>
          <a:ln w="1778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0840" y="379476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Policy
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8200" y="4233672"/>
            <a:ext cx="320040" cy="0"/>
          </a:xfrm>
          <a:prstGeom prst="line">
            <a:avLst/>
          </a:prstGeom>
          <a:ln w="1778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379476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Decision /
HITL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06FBA"/>
                </a:solidFill>
                <a:latin typeface="Aptos"/>
              </a:rPr>
              <a:t>TRUST &amp; GOVERNANCE PLANE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5166360"/>
            <a:ext cx="804672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2D72"/>
                </a:solidFill>
                <a:latin typeface="Aptos"/>
              </a:rPr>
              <a:t>Audit • Observability • Versioning • Authorization • Bounded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6. Where the LLM and prompts actually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The LLM is an execution mechanism inside reasoning — not the Intelligence Layer itself.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1828800" cy="6858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Selected Skill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1993392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14173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53D"/>
                </a:solidFill>
                <a:latin typeface="Aptos"/>
              </a:rPr>
              <a:t>Reasoning Strategy
Router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560320"/>
            <a:ext cx="0" cy="68580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3246120"/>
            <a:ext cx="1920240" cy="77724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Rules / Analytics /
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80" y="1993392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0" y="1325880"/>
            <a:ext cx="1965960" cy="132588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Prompt 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788920"/>
            <a:ext cx="20574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4253D"/>
                </a:solidFill>
                <a:latin typeface="Aptos"/>
              </a:rPr>
              <a:t>Enterprise system instructions
+ Skill instructions
+ Trusted context/evidence
+ User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1993392"/>
            <a:ext cx="54864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417320"/>
            <a:ext cx="1645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Enterprise
Model 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46920" y="1993392"/>
            <a:ext cx="50292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49840" y="1417320"/>
            <a:ext cx="1417320" cy="11430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63072" y="2560320"/>
            <a:ext cx="0" cy="109728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3657600"/>
            <a:ext cx="2103120" cy="86868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53D"/>
                </a:solidFill>
                <a:latin typeface="Aptos"/>
              </a:rPr>
              <a:t>Structured
Skill Result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052560" y="4096512"/>
            <a:ext cx="68580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37960" y="365760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4253D"/>
                </a:solidFill>
                <a:latin typeface="Aptos"/>
              </a:rPr>
              <a:t>Evidence → Confidence →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57800"/>
            <a:ext cx="5074920" cy="594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D72"/>
                </a:solidFill>
                <a:latin typeface="Aptos"/>
              </a:rPr>
              <a:t>System instructions govern HOW intelligence is produced.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5257800"/>
            <a:ext cx="5074920" cy="594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D72"/>
                </a:solidFill>
                <a:latin typeface="Aptos"/>
              </a:rPr>
              <a:t>User prompt expresses WHAT the user wants to know.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7. Skill model — keep business intelligence 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Skill = declarative business intelligence contract; Runtime = governed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828800" cy="6858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554480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name • version • owner •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39"/>
            <a:ext cx="1828800" cy="6858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606039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when should this Skill 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1828800" cy="6858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657600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required signals • optional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09159"/>
            <a:ext cx="1828800" cy="6858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09159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reasoning strategy • prompt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182880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5448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minimum evidence • freshness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606039"/>
            <a:ext cx="182880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39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typed result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657600"/>
            <a:ext cx="182880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65760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golden data • acceptance thresholds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709159"/>
            <a:ext cx="1828800" cy="68580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709159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4253D"/>
                </a:solidFill>
                <a:latin typeface="Aptos"/>
              </a:rPr>
              <a:t>policy pack reference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5623560"/>
            <a:ext cx="850392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2D72"/>
                </a:solidFill>
                <a:latin typeface="Aptos"/>
              </a:rPr>
              <a:t>New use case ≈ onboard a governed Skill — not build a new end-to-end intelligence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8. MCP: a boundary, not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Use MCP where standardized Skill discovery/invocation adds enterprise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Intelligence
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86000"/>
            <a:ext cx="64008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691640"/>
            <a:ext cx="2011680" cy="118872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MCP-facing
Skill 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2286000"/>
            <a:ext cx="640080" cy="0"/>
          </a:xfrm>
          <a:prstGeom prst="line">
            <a:avLst/>
          </a:prstGeom>
          <a:ln w="25400">
            <a:solidFill>
              <a:srgbClr val="00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0" y="1691640"/>
            <a:ext cx="1828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53D"/>
                </a:solidFill>
                <a:latin typeface="Aptos"/>
              </a:rPr>
              <a:t>Skill
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1143000" cy="1737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4253D"/>
                </a:solidFill>
                <a:latin typeface="Aptos"/>
              </a:rPr>
              <a:t>Complaint
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417320"/>
            <a:ext cx="1143000" cy="1737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4253D"/>
                </a:solidFill>
                <a:latin typeface="Aptos"/>
              </a:rPr>
              <a:t>Opportunity
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1417320"/>
            <a:ext cx="1143000" cy="173736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4253D"/>
                </a:solidFill>
                <a:latin typeface="Aptos"/>
              </a:rPr>
              <a:t>Rewards
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06FBA"/>
                </a:solidFill>
                <a:latin typeface="Aptos"/>
              </a:rPr>
              <a:t>MCP helps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9377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Discover approved Skills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Invoke through a common contract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Reduce tight coupling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Enable reuse by other enterprise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840480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06FBA"/>
                </a:solidFill>
                <a:latin typeface="Aptos"/>
              </a:rPr>
              <a:t>MCP does not replace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60520"/>
            <a:ext cx="5029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Skill lifecycle &amp; evaluation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IAM / authorization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Confidence &amp; policy</a:t>
            </a:r>
          </a:p>
          <a:p>
            <a:pPr>
              <a:spcAft>
                <a:spcPts val="700"/>
              </a:spcAft>
              <a:defRPr sz="1300">
                <a:solidFill>
                  <a:srgbClr val="14253D"/>
                </a:solidFill>
                <a:latin typeface="Aptos"/>
              </a:defRPr>
            </a:pPr>
            <a:r>
              <a:t>• Orchestration /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9. Reliability: from AI answer to governed enterprise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Trust is designed around the model, not delegated to the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5943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Required signals
+ provenance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130552"/>
            <a:ext cx="274319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828800"/>
            <a:ext cx="160020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Enough trusted
evidence?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2130552"/>
            <a:ext cx="274320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828800"/>
            <a:ext cx="160020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Least-complex
strategy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130552"/>
            <a:ext cx="274320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828800"/>
            <a:ext cx="160020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Derived outside
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2130552"/>
            <a:ext cx="274320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80" y="1828800"/>
            <a:ext cx="160020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Deterministic
controls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84080" y="2130552"/>
            <a:ext cx="274320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04120" y="1828800"/>
            <a:ext cx="1600200" cy="5943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560320"/>
            <a:ext cx="1600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ALLOW • REVIEW
REJECT • ABSTAIN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242316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2D72"/>
                </a:solidFill>
                <a:latin typeface="Aptos"/>
              </a:rPr>
              <a:t>Bounded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2423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55677A"/>
                </a:solidFill>
                <a:latin typeface="Aptos"/>
              </a:rPr>
              <a:t>timeouts • retries • loop limits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4160520"/>
            <a:ext cx="242316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2D72"/>
                </a:solidFill>
                <a:latin typeface="Aptos"/>
              </a:rPr>
              <a:t>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4754880"/>
            <a:ext cx="2423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55677A"/>
                </a:solidFill>
                <a:latin typeface="Aptos"/>
              </a:rPr>
              <a:t>Skill cannot elevate privileges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160520"/>
            <a:ext cx="242316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2D72"/>
                </a:solidFill>
                <a:latin typeface="Aptos"/>
              </a:rPr>
              <a:t>Versioning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754880"/>
            <a:ext cx="2423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55677A"/>
                </a:solidFill>
                <a:latin typeface="Aptos"/>
              </a:rPr>
              <a:t>skill • prompt • model • 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160520"/>
            <a:ext cx="2423160" cy="50292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2D72"/>
                </a:solidFill>
                <a:latin typeface="Aptos"/>
              </a:rP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754880"/>
            <a:ext cx="2423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55677A"/>
                </a:solidFill>
                <a:latin typeface="Aptos"/>
              </a:rPr>
              <a:t>trace • latency • cost •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2D72"/>
                </a:solidFill>
                <a:latin typeface="Aptos"/>
              </a:rPr>
              <a:t>Enterprise principle: ABSTAIN is a valid outcome when evidence is insufficient.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10. POC 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5677A"/>
                </a:solidFill>
                <a:latin typeface="Aptos"/>
              </a:rPr>
              <a:t>Mock Layers 1–3. Validate Layer 4 behavior and enterprise extension 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965960" cy="5943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Typed contracts
Synthetic signals
Skill registry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993392"/>
            <a:ext cx="301752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39" y="1691640"/>
            <a:ext cx="196596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42316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Context
Reasoning router
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1993392"/>
            <a:ext cx="301752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59" y="1691640"/>
            <a:ext cx="196596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42316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Confidence
Policy
HITL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19" y="1993392"/>
            <a:ext cx="301752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1691640"/>
            <a:ext cx="196596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MCP +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42316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Skill discovery
Authoring
Lifecycle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64040" y="1993392"/>
            <a:ext cx="301752" cy="0"/>
          </a:xfrm>
          <a:prstGeom prst="line">
            <a:avLst/>
          </a:prstGeom>
          <a:ln w="1651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29800" y="1691640"/>
            <a:ext cx="1965960" cy="594360"/>
          </a:xfrm>
          <a:prstGeom prst="roundRect">
            <a:avLst/>
          </a:prstGeom>
          <a:solidFill>
            <a:srgbClr val="006FBA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Enterprise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42316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14253D"/>
                </a:solidFill>
                <a:latin typeface="Aptos"/>
              </a:rPr>
              <a:t>Observability
Adapters
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6FBA"/>
                </a:solidFill>
                <a:latin typeface="Aptos"/>
              </a:rPr>
              <a:t>What the POC should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10607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53D"/>
                </a:solidFill>
                <a:latin typeface="Aptos"/>
              </a:defRPr>
            </a:pPr>
            <a:r>
              <a:t>• Multiple use cases can onboard as reusable Skills.</a:t>
            </a:r>
          </a:p>
          <a:p>
            <a:pPr>
              <a:spcAft>
                <a:spcPts val="700"/>
              </a:spcAft>
              <a:defRPr sz="1400">
                <a:solidFill>
                  <a:srgbClr val="14253D"/>
                </a:solidFill>
                <a:latin typeface="Aptos"/>
              </a:defRPr>
            </a:pPr>
            <a:r>
              <a:t>• The same runtime can support deterministic and LLM-based reasoning.</a:t>
            </a:r>
          </a:p>
          <a:p>
            <a:pPr>
              <a:spcAft>
                <a:spcPts val="700"/>
              </a:spcAft>
              <a:defRPr sz="1400">
                <a:solidFill>
                  <a:srgbClr val="14253D"/>
                </a:solidFill>
                <a:latin typeface="Aptos"/>
              </a:defRPr>
            </a:pPr>
            <a:r>
              <a:t>• Evidence, confidence and policy are explicit and testable.</a:t>
            </a:r>
          </a:p>
          <a:p>
            <a:pPr>
              <a:spcAft>
                <a:spcPts val="700"/>
              </a:spcAft>
              <a:defRPr sz="1400">
                <a:solidFill>
                  <a:srgbClr val="14253D"/>
                </a:solidFill>
                <a:latin typeface="Aptos"/>
              </a:defRPr>
            </a:pPr>
            <a:r>
              <a:t>• Mocks can later be replaced by enterprise IAM, model gateway, MCP and knowledge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02D72"/>
                </a:solidFill>
                <a:latin typeface="Aptos"/>
              </a:rPr>
              <a:t>11. The architecture question I want to validate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10972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006FBA"/>
                </a:solidFill>
                <a:latin typeface="Aptos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572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14253D"/>
                </a:solidFill>
                <a:latin typeface="Aptos"/>
              </a:rPr>
              <a:t>Should Layer 4 be primarily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02D72"/>
                </a:solidFill>
                <a:latin typeface="Aptos"/>
              </a:rPr>
              <a:t>governed LLM reasoning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011680"/>
            <a:ext cx="1005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55677A"/>
                </a:solidFill>
                <a:latin typeface="Aptos"/>
              </a:rPr>
              <a:t>— or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06FBA"/>
                </a:solidFill>
                <a:latin typeface="Aptos"/>
              </a:rPr>
              <a:t>a governed Intelligence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33472"/>
            <a:ext cx="4572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14253D"/>
                </a:solidFill>
                <a:latin typeface="Aptos"/>
              </a:rPr>
              <a:t>where LLM reasoning is one of several execution strategies?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03320"/>
            <a:ext cx="10515600" cy="914400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006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2D72"/>
                </a:solidFill>
                <a:latin typeface="Aptos"/>
              </a:rPr>
              <a:t>Current hypothesis: one Intelligence Agent orchestrates reusable Skills, while evidence, confidence, policy, authorization and observability remain explicit governed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POC goal: validate the trade-offs and converge with enterprise architecture — not create a parallel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06FBA"/>
                </a:solidFill>
                <a:latin typeface="Aptos"/>
              </a:rPr>
              <a:t>Discussion /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9552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5677A"/>
                </a:solidFill>
                <a:latin typeface="Aptos"/>
              </a:rPr>
              <a:t>AMERICAN EXPRESS  |  Intelligence Layer Architecture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567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